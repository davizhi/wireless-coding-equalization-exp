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142"/>
          </a:solidFill>
          <a:ln>
            <a:solidFill>
              <a:srgbClr val="0E2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85800"/>
            <a:ext cx="10835640" cy="544068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005840"/>
            <a:ext cx="99669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0EA5E9"/>
                </a:solidFill>
                <a:latin typeface="Microsoft YaHei"/>
              </a:rPr>
              <a:t>无线通信技术实验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74519"/>
            <a:ext cx="9966960" cy="7498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"/>
              </a:rPr>
              <a:t>信道编码与信道均衡综合实验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88920"/>
            <a:ext cx="9966960" cy="34747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1F5F9"/>
                </a:solidFill>
                <a:latin typeface="Microsoft YaHei"/>
              </a:rPr>
              <a:t>Hamming(7,4) + ZF / LMS 均衡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3977639"/>
            <a:ext cx="1874519" cy="38404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4032503"/>
            <a:ext cx="1783079" cy="23774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信道编码与信道均衡综合实验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3977639"/>
            <a:ext cx="1874519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4032503"/>
            <a:ext cx="1783079" cy="23774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Hamming(7,4) + ZF / LMS 均衡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77639"/>
            <a:ext cx="1874519" cy="384048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4032503"/>
            <a:ext cx="1783079" cy="23774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代码补全 · 仿真验证 · GitHub 自动评分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715000"/>
            <a:ext cx="9966960" cy="25603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400" b="0">
                <a:solidFill>
                  <a:srgbClr val="F1F5F9"/>
                </a:solidFill>
                <a:latin typeface="Microsoft YaHei"/>
              </a:rPr>
              <a:t>两部分讲解：实验流程 + 技术原理 · 代码补全 · 仿真验证 · GitHub 自动评分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E2142"/>
          </a:solidFill>
          <a:ln>
            <a:solidFill>
              <a:srgbClr val="0E2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509760" cy="38404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本次课结构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164592"/>
            <a:ext cx="123444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02/26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051560"/>
            <a:ext cx="100584" cy="66751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10642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Part 1（约10 min）：实验流程与环境配置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2880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28800"/>
            <a:ext cx="100584" cy="66751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88366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Part 2（约25 min）：信道编码与均衡原理+例子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606039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606039"/>
            <a:ext cx="100584" cy="66751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2660903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icrosoft YaHei"/>
              </a:rPr>
              <a:t>两个代码模块：part1_channel_coding.py / part2_equalization.py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383279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383279"/>
            <a:ext cx="100584" cy="6675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438143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学习目标：理解原理 → 补全代码 → 验证结果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16052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160520"/>
            <a:ext cx="100584" cy="66751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421538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提交方式：PR 标题含姓名学号，自动评分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1051560"/>
            <a:ext cx="5074920" cy="51663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1325880"/>
            <a:ext cx="4480560" cy="3291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0E2142"/>
                </a:solidFill>
                <a:latin typeface="Microsoft YaHei"/>
              </a:rPr>
              <a:t>课堂节奏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1920240"/>
            <a:ext cx="1051560" cy="4114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1993392"/>
            <a:ext cx="96012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0-5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1956816"/>
            <a:ext cx="2651760" cy="310896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Microsoft YaHei"/>
              </a:rPr>
              <a:t>问题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03720" y="2743200"/>
            <a:ext cx="1051560" cy="4114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2816352"/>
            <a:ext cx="96012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5-13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2779776"/>
            <a:ext cx="2651760" cy="310896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Microsoft YaHei"/>
              </a:rPr>
              <a:t>编码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03720" y="3566160"/>
            <a:ext cx="1051560" cy="4114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0" y="3639312"/>
            <a:ext cx="96012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13-23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79" y="3602736"/>
            <a:ext cx="2651760" cy="310896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Microsoft YaHei"/>
              </a:rPr>
              <a:t>均衡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03720" y="4389120"/>
            <a:ext cx="1051560" cy="4114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4462272"/>
            <a:ext cx="96012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23-30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79" y="4425696"/>
            <a:ext cx="2651760" cy="310896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Microsoft YaHei"/>
              </a:rPr>
              <a:t>提交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5989320"/>
            <a:ext cx="10972800" cy="347472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6071616"/>
            <a:ext cx="10652760" cy="16459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475569"/>
                </a:solidFill>
                <a:latin typeface="Microsoft YaHei"/>
              </a:rPr>
              <a:t>讲解提示：先给学生建立全局观，然后分块讲解。Part 1 是实操指南，Part 2 是理论深讲。建议边看 PPT 边打开仓库对照代码。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6510528"/>
            <a:ext cx="548640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</a:rPr>
              <a:t>无线通信技术 · 信道编码与信道均衡实验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6510528"/>
            <a:ext cx="402336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代码补全 · 仿真验证 · GitHub 自动评分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142"/>
          </a:solidFill>
          <a:ln>
            <a:solidFill>
              <a:srgbClr val="0E2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4206240" cy="50292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l"/>
            <a:r>
              <a:rPr sz="3800" b="1">
                <a:solidFill>
                  <a:srgbClr val="2563EB"/>
                </a:solidFill>
                <a:latin typeface="Microsoft YaHei"/>
              </a:rPr>
              <a:t>Part 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3749039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4206240" cy="10972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实验流程与环境配置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3383280"/>
            <a:ext cx="256032" cy="25603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3401568"/>
            <a:ext cx="3749039" cy="219456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200" b="0">
                <a:solidFill>
                  <a:srgbClr val="F1F5F9"/>
                </a:solidFill>
                <a:latin typeface="Microsoft YaHei"/>
              </a:rPr>
              <a:t>实验概述：两个模块 + 代码补全形式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3931920"/>
            <a:ext cx="256032" cy="25603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3950207"/>
            <a:ext cx="3749039" cy="219456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200" b="0">
                <a:solidFill>
                  <a:srgbClr val="F1F5F9"/>
                </a:solidFill>
                <a:latin typeface="Microsoft YaHei"/>
              </a:rPr>
              <a:t>环境配置：Python 安装与依赖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" y="4480560"/>
            <a:ext cx="256032" cy="25603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4498848"/>
            <a:ext cx="3749039" cy="219456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200" b="0">
                <a:solidFill>
                  <a:srgbClr val="F1F5F9"/>
                </a:solidFill>
                <a:latin typeface="Microsoft YaHei"/>
              </a:rPr>
              <a:t>仓库结构：要补全的函数位置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" y="5029200"/>
            <a:ext cx="256032" cy="25603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5047488"/>
            <a:ext cx="3749039" cy="219456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200" b="0">
                <a:solidFill>
                  <a:srgbClr val="F1F5F9"/>
                </a:solidFill>
                <a:latin typeface="Microsoft YaHei"/>
              </a:rPr>
              <a:t>本地测试：pytest + 生成结果图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577840"/>
            <a:ext cx="256032" cy="25603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5596127"/>
            <a:ext cx="3749039" cy="219456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200" b="0">
                <a:solidFill>
                  <a:srgbClr val="F1F5F9"/>
                </a:solidFill>
                <a:latin typeface="Microsoft YaHei"/>
              </a:rPr>
              <a:t>提交评分：PR 格式与 GitHub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1645920"/>
            <a:ext cx="5943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l"/>
            <a:r>
              <a:rPr sz="2000" b="0">
                <a:solidFill>
                  <a:srgbClr val="64748B"/>
                </a:solidFill>
                <a:latin typeface="Microsoft YaHei"/>
              </a:rPr>
              <a:t>无线通信技术实验 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2194560"/>
            <a:ext cx="5943600" cy="45720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0" y="2377440"/>
            <a:ext cx="5943600" cy="82296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信道编码与信道均衡综合实验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4937760"/>
            <a:ext cx="1920240" cy="38404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5000" y="4992624"/>
            <a:ext cx="1828800" cy="23774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Hamming(7,4)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4937760"/>
            <a:ext cx="1920240" cy="38404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0" y="4992624"/>
            <a:ext cx="1828800" cy="23774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ZF 均衡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66960" y="4937760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4992624"/>
            <a:ext cx="1828800" cy="23774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LMS 均衡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E2142"/>
          </a:solidFill>
          <a:ln>
            <a:solidFill>
              <a:srgbClr val="0E2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509760" cy="38404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实验概述：两个任务模块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164592"/>
            <a:ext cx="123444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04/26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051560"/>
            <a:ext cx="100584" cy="66751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10642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icrosoft YaHei"/>
              </a:rPr>
              <a:t>Part 1 模块：Hamming(7,4) 编码，在 src/part1_channel_coding.py 中补全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2880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28800"/>
            <a:ext cx="100584" cy="66751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88366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icrosoft YaHei"/>
              </a:rPr>
              <a:t>Part 2 模块：ZF + LMS 信道均衡，在 src/part2_equalization.py 中补全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606039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606039"/>
            <a:ext cx="100584" cy="66751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2660903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每模块各有 3 个核心函数，每个函数含 TODO 注释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383279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383279"/>
            <a:ext cx="100584" cy="6675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438143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每模块有独立的 pytest 测试脚本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16052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160520"/>
            <a:ext cx="100584" cy="66751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421538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通过所有测试后运行 demo 生成结果图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1051560"/>
            <a:ext cx="5074920" cy="51663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1417320"/>
            <a:ext cx="4480560" cy="32004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0E2142"/>
                </a:solidFill>
                <a:latin typeface="Microsoft YaHei"/>
              </a:rPr>
              <a:t>本页关键词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95160" y="2011680"/>
            <a:ext cx="502920" cy="38404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2066544"/>
            <a:ext cx="411480" cy="23774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2029968"/>
            <a:ext cx="342900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Microsoft YaHei"/>
              </a:rPr>
              <a:t>Part 1 模块：Hamming(7,4) 编码，在 src/pa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95160" y="2724912"/>
            <a:ext cx="502920" cy="38404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0" y="2779776"/>
            <a:ext cx="411480" cy="23774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2743200"/>
            <a:ext cx="342900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Microsoft YaHei"/>
              </a:rPr>
              <a:t>Part 2 模块：ZF + LMS 信道均衡，在 src/part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95160" y="3438144"/>
            <a:ext cx="50292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0" y="3493008"/>
            <a:ext cx="411480" cy="23774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3456432"/>
            <a:ext cx="342900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Microsoft YaHei"/>
              </a:rPr>
              <a:t>每模块各有 3 个核心函数，每个函数含 TODO 注释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95160" y="4151376"/>
            <a:ext cx="502920" cy="384048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0" y="4206240"/>
            <a:ext cx="411480" cy="23774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4169663"/>
            <a:ext cx="342900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Microsoft YaHei"/>
              </a:rPr>
              <a:t>每模块有独立的 pytest 测试脚本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5989320"/>
            <a:ext cx="10972800" cy="347472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6071616"/>
            <a:ext cx="10652760" cy="16459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475569"/>
                </a:solidFill>
                <a:latin typeface="Microsoft YaHei"/>
              </a:rPr>
              <a:t>讲解提示：实验不要求从零编写算法，而是根据注释和公式补全关键步骤。先读 docstring 和 TODO 注释，再对照课件写代码。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6510528"/>
            <a:ext cx="548640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</a:rPr>
              <a:t>无线通信技术 · 信道编码与信道均衡实验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6510528"/>
            <a:ext cx="402336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代码补全 · 仿真验证 · GitHub 自动评分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E2142"/>
          </a:solidFill>
          <a:ln>
            <a:solidFill>
              <a:srgbClr val="0E2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509760" cy="38404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实验环境配置步骤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164592"/>
            <a:ext cx="123444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05/26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051560"/>
            <a:ext cx="100584" cy="66751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10642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前提：Python 3.9+，git，VS Code 已安装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2880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28800"/>
            <a:ext cx="100584" cy="66751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88366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第1步：git clone 仓库并进入目录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606039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606039"/>
            <a:ext cx="100584" cy="66751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2660903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第2步：python -m venv .venv 创建虚拟环境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383279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383279"/>
            <a:ext cx="100584" cy="6675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438143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icrosoft YaHei"/>
              </a:rPr>
              <a:t>第3步：pip install -r requirements.txt 安装依赖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16052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160520"/>
            <a:ext cx="100584" cy="66751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421538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icrosoft YaHei"/>
              </a:rPr>
              <a:t>第4步：python src/test_environment.py 验证环境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1051560"/>
            <a:ext cx="5074920" cy="51663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1417320"/>
            <a:ext cx="4480560" cy="32004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0E2142"/>
                </a:solidFill>
                <a:latin typeface="Microsoft YaHei"/>
              </a:rPr>
              <a:t>环境配置流程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1920240"/>
            <a:ext cx="42519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03720" y="1920240"/>
            <a:ext cx="109728" cy="4754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50608" y="2039112"/>
            <a:ext cx="3840480" cy="20116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Microsoft YaHei"/>
              </a:rPr>
              <a:t>git clone 仓库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7112" y="2368296"/>
            <a:ext cx="320040" cy="1828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Microsoft YaHei"/>
              </a:rPr>
              <a:t>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2578608"/>
            <a:ext cx="42519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03720" y="2578608"/>
            <a:ext cx="109728" cy="475488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50608" y="2697480"/>
            <a:ext cx="3840480" cy="20116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Microsoft YaHei"/>
              </a:rPr>
              <a:t>python -m venv .venv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7112" y="3026664"/>
            <a:ext cx="320040" cy="1828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Microsoft YaHei"/>
              </a:rPr>
              <a:t>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03720" y="3236976"/>
            <a:ext cx="42519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903720" y="3236976"/>
            <a:ext cx="109728" cy="4754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50608" y="3355848"/>
            <a:ext cx="3840480" cy="20116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Microsoft YaHei"/>
              </a:rPr>
              <a:t>pip install -r requirements.txt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97112" y="3685032"/>
            <a:ext cx="320040" cy="1828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Microsoft YaHei"/>
              </a:rPr>
              <a:t>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03720" y="3895344"/>
            <a:ext cx="42519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903720" y="3895344"/>
            <a:ext cx="109728" cy="47548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50608" y="4014215"/>
            <a:ext cx="3840480" cy="20116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Microsoft YaHei"/>
              </a:rPr>
              <a:t>python src/test_environment.py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97112" y="4343400"/>
            <a:ext cx="320040" cy="1828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Microsoft YaHei"/>
              </a:rPr>
              <a:t>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03720" y="4553712"/>
            <a:ext cx="42519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903720" y="4553712"/>
            <a:ext cx="109728" cy="475488"/>
          </a:xfrm>
          <a:prstGeom prst="rect">
            <a:avLst/>
          </a:prstGeom>
          <a:solidFill>
            <a:srgbClr val="475569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50608" y="4672584"/>
            <a:ext cx="3840480" cy="20116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icrosoft YaHei"/>
              </a:rPr>
              <a:t>✅ 环境验证通过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5989320"/>
            <a:ext cx="10972800" cy="347472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9808" y="6071616"/>
            <a:ext cx="10652760" cy="16459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475569"/>
                </a:solidFill>
                <a:latin typeface="Microsoft YaHei"/>
              </a:rPr>
              <a:t>讲解提示：Windows 用户注意激活虚拟环境用 .venv\Scripts\activate，Mac/Linux 用 source .venv/bin/activate。依赖主要是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6510528"/>
            <a:ext cx="548640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</a:rPr>
              <a:t>无线通信技术 · 信道编码与信道均衡实验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6510528"/>
            <a:ext cx="402336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代码补全 · 仿真验证 · GitHub 自动评分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E2142"/>
          </a:solidFill>
          <a:ln>
            <a:solidFill>
              <a:srgbClr val="0E2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509760" cy="38404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仓库结构与代码入口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164592"/>
            <a:ext cx="123444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06/26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051560"/>
            <a:ext cx="100584" cy="66751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10642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icrosoft YaHei"/>
              </a:rPr>
              <a:t>src/part1_channel_coding.py：hamming74_encode / hamming74_syndrome / hamming74_decode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2880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28800"/>
            <a:ext cx="100584" cy="66751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88366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icrosoft YaHei"/>
              </a:rPr>
              <a:t>src/part2_equalization.py：estimate_zf_equalizer / apply_fir_filter / lms_equalizer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606039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606039"/>
            <a:ext cx="100584" cy="66751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2660903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icrosoft YaHei"/>
              </a:rPr>
              <a:t>grading/test_part1_coding.py：Part 1 自动测试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383279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383279"/>
            <a:ext cx="100584" cy="6675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438143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icrosoft YaHei"/>
              </a:rPr>
              <a:t>grading/test_part2_equalization.py：Part 2 自动测试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16052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160520"/>
            <a:ext cx="100584" cy="66751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421538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results/：保存生成的 BER 曲线和均衡效果图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1051560"/>
            <a:ext cx="5074920" cy="51663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1417320"/>
            <a:ext cx="4480560" cy="32004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0E2142"/>
                </a:solidFill>
                <a:latin typeface="Microsoft YaHei"/>
              </a:rPr>
              <a:t>关键文件位置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1920240"/>
            <a:ext cx="42519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03720" y="1920240"/>
            <a:ext cx="109728" cy="4754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50608" y="1947672"/>
            <a:ext cx="914400" cy="1828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</a:rPr>
              <a:t>src/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0608" y="2130552"/>
            <a:ext cx="3840480" cy="20116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icrosoft YaHei"/>
              </a:rPr>
              <a:t>part1_channel_coding.py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2578608"/>
            <a:ext cx="42519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03720" y="2578608"/>
            <a:ext cx="109728" cy="4754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50608" y="2606040"/>
            <a:ext cx="914400" cy="1828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</a:rPr>
              <a:t>src/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50608" y="2788920"/>
            <a:ext cx="3840480" cy="20116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icrosoft YaHei"/>
              </a:rPr>
              <a:t>part2_equalization.py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03720" y="3236976"/>
            <a:ext cx="42519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903720" y="3236976"/>
            <a:ext cx="109728" cy="475488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50608" y="3264408"/>
            <a:ext cx="914400" cy="1828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</a:rPr>
              <a:t>grading/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50608" y="3447288"/>
            <a:ext cx="3840480" cy="20116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icrosoft YaHei"/>
              </a:rPr>
              <a:t>test_part1_coding.py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03720" y="3895344"/>
            <a:ext cx="42519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903720" y="3895344"/>
            <a:ext cx="109728" cy="47548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50608" y="3922776"/>
            <a:ext cx="914400" cy="1828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</a:rPr>
              <a:t>grading/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50608" y="4105656"/>
            <a:ext cx="3840480" cy="20116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icrosoft YaHei"/>
              </a:rPr>
              <a:t>test_part2_equalization.py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03720" y="4553712"/>
            <a:ext cx="42519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903720" y="4553712"/>
            <a:ext cx="109728" cy="475488"/>
          </a:xfrm>
          <a:prstGeom prst="rect">
            <a:avLst/>
          </a:prstGeom>
          <a:solidFill>
            <a:srgbClr val="475569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50608" y="4581144"/>
            <a:ext cx="914400" cy="1828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</a:rPr>
              <a:t>results/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50608" y="4764024"/>
            <a:ext cx="3840480" cy="20116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icrosoft YaHei"/>
              </a:rPr>
              <a:t>BER曲线 / 均衡效果图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" y="5989320"/>
            <a:ext cx="10972800" cy="347472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8" y="6071616"/>
            <a:ext cx="10652760" cy="16459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475569"/>
                </a:solidFill>
                <a:latin typeface="Microsoft YaHei"/>
              </a:rPr>
              <a:t>讲解提示：不要修改 grading/ 目录下的文件。代码常量 HAMMING_G 和 HAMMING_H 已在文件顶部定义，直接使用即可。每个函数都有详细的 docstring 说明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6510528"/>
            <a:ext cx="548640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</a:rPr>
              <a:t>无线通信技术 · 信道编码与信道均衡实验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6510528"/>
            <a:ext cx="402336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代码补全 · 仿真验证 · GitHub 自动评分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E2142"/>
          </a:solidFill>
          <a:ln>
            <a:solidFill>
              <a:srgbClr val="0E2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509760" cy="38404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本地测试与运行流程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164592"/>
            <a:ext cx="123444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07/26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051560"/>
            <a:ext cx="100584" cy="66751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10642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icrosoft YaHei"/>
              </a:rPr>
              <a:t>第1步：pytest grading/test_part1_coding.py -v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2880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28800"/>
            <a:ext cx="100584" cy="66751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88366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icrosoft YaHei"/>
              </a:rPr>
              <a:t>第2步：python src/part1_channel_coding.py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606039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606039"/>
            <a:ext cx="100584" cy="66751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2660903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icrosoft YaHei"/>
              </a:rPr>
              <a:t>第3步：pytest grading/test_part2_equalization.py -v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383279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383279"/>
            <a:ext cx="100584" cy="6675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438143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第4步：python src/part2_equalization.py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16052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160520"/>
            <a:ext cx="100584" cy="66751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421538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icrosoft YaHei"/>
              </a:rPr>
              <a:t>第5步：python grading/calculate_grade.py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1051560"/>
            <a:ext cx="5074920" cy="51663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1417320"/>
            <a:ext cx="4480560" cy="32004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0E2142"/>
                </a:solidFill>
                <a:latin typeface="Microsoft YaHei"/>
              </a:rPr>
              <a:t>操作流程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1920240"/>
            <a:ext cx="347472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31152" y="1993392"/>
            <a:ext cx="292608" cy="14630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1947672"/>
            <a:ext cx="3611880" cy="25603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Microsoft YaHei"/>
              </a:rPr>
              <a:t>第1步：pytest grading/test_part1_coding.py -v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03720" y="2560320"/>
            <a:ext cx="347472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31152" y="2633472"/>
            <a:ext cx="292608" cy="14630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2587751"/>
            <a:ext cx="3611880" cy="25603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Microsoft YaHei"/>
              </a:rPr>
              <a:t>第2步：python src/part1_channel_coding.py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03720" y="3200400"/>
            <a:ext cx="347472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31152" y="3273552"/>
            <a:ext cx="292608" cy="14630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3227832"/>
            <a:ext cx="3611880" cy="25603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Microsoft YaHei"/>
              </a:rPr>
              <a:t>第3步：pytest grading/test_part2_equalization.py -v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03720" y="3840479"/>
            <a:ext cx="347472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31152" y="3913631"/>
            <a:ext cx="292608" cy="14630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3867911"/>
            <a:ext cx="3611880" cy="25603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Microsoft YaHei"/>
              </a:rPr>
              <a:t>第4步：python src/part2_equalization.py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03720" y="4480560"/>
            <a:ext cx="347472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31152" y="4553712"/>
            <a:ext cx="292608" cy="14630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4507992"/>
            <a:ext cx="3611880" cy="25603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Microsoft YaHei"/>
              </a:rPr>
              <a:t>第5步：python grading/calculate_grade.py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5989320"/>
            <a:ext cx="10972800" cy="347472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8" y="6071616"/>
            <a:ext cx="10652760" cy="16459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475569"/>
                </a:solidFill>
                <a:latin typeface="Microsoft YaHei"/>
              </a:rPr>
              <a:t>讲解提示：建议严格按顺序执行。先通过单元测试再运行 demo，否则 demo 会因 NotImplementedError 直接停止。结果图保存在 results/ 文件夹，务必检查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510528"/>
            <a:ext cx="548640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</a:rPr>
              <a:t>无线通信技术 · 信道编码与信道均衡实验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6510528"/>
            <a:ext cx="402336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代码补全 · 仿真验证 · GitHub 自动评分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E2142"/>
          </a:solidFill>
          <a:ln>
            <a:solidFill>
              <a:srgbClr val="0E2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509760" cy="38404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提交规范与自动评分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164592"/>
            <a:ext cx="123444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08/26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051560"/>
            <a:ext cx="100584" cy="66751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10642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icrosoft YaHei"/>
              </a:rPr>
              <a:t>PR 标题格式：实验02-姓名-学号（例：实验02-张三-2024001）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2880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28800"/>
            <a:ext cx="100584" cy="66751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88366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提交 PR 后 GitHub Actions 自动运行评分脚本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606039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606039"/>
            <a:ext cx="100584" cy="66751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2660903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icrosoft YaHei"/>
              </a:rPr>
              <a:t>评分结果显示在 PR 评论 / Actions Summary / Artifacts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383279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383279"/>
            <a:ext cx="100584" cy="6675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438143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跟踪表统计：提交状态 / 提交次数 / 最新分数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16052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160520"/>
            <a:ext cx="100584" cy="66751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421538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修改代码后 push 新 commit 即可重新评分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1051560"/>
            <a:ext cx="5074920" cy="51663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1417320"/>
            <a:ext cx="4480560" cy="32004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0E2142"/>
                </a:solidFill>
                <a:latin typeface="Microsoft YaHei"/>
              </a:rPr>
              <a:t>操作流程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1920240"/>
            <a:ext cx="347472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31152" y="1993392"/>
            <a:ext cx="292608" cy="14630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1947672"/>
            <a:ext cx="3611880" cy="25603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Microsoft YaHei"/>
              </a:rPr>
              <a:t>PR 标题格式：实验02-姓名-学号（例：实验02-张三-2024001）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03720" y="2560320"/>
            <a:ext cx="347472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31152" y="2633472"/>
            <a:ext cx="292608" cy="14630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2587751"/>
            <a:ext cx="3611880" cy="25603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Microsoft YaHei"/>
              </a:rPr>
              <a:t>提交 PR 后 GitHub Actions 自动运行评分脚本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03720" y="3200400"/>
            <a:ext cx="347472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31152" y="3273552"/>
            <a:ext cx="292608" cy="14630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3227832"/>
            <a:ext cx="3611880" cy="25603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Microsoft YaHei"/>
              </a:rPr>
              <a:t>评分结果显示在 PR 评论 / Actions Summary / Artifacts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03720" y="3840479"/>
            <a:ext cx="347472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31152" y="3913631"/>
            <a:ext cx="292608" cy="14630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3867911"/>
            <a:ext cx="3611880" cy="25603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Microsoft YaHei"/>
              </a:rPr>
              <a:t>跟踪表统计：提交状态 / 提交次数 / 最新分数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03720" y="4480560"/>
            <a:ext cx="347472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31152" y="4553712"/>
            <a:ext cx="292608" cy="14630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4507992"/>
            <a:ext cx="3611880" cy="25603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Microsoft YaHei"/>
              </a:rPr>
              <a:t>修改代码后 push 新 commit 即可重新评分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5989320"/>
            <a:ext cx="10972800" cy="347472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8" y="6071616"/>
            <a:ext cx="10652760" cy="16459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475569"/>
                </a:solidFill>
                <a:latin typeface="Microsoft YaHei"/>
              </a:rPr>
              <a:t>讲解提示：PR 标题格式必须严格遵守，否则跟踪表无法自动匹配。PR 评论失败不代表评分失败，要同时查看 Actions 页面。可以多次提交，以最后一次评分为准。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510528"/>
            <a:ext cx="548640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</a:rPr>
              <a:t>无线通信技术 · 信道编码与信道均衡实验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6510528"/>
            <a:ext cx="402336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代码补全 · 仿真验证 · GitHub 自动评分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E2142"/>
          </a:solidFill>
          <a:ln>
            <a:solidFill>
              <a:srgbClr val="0E2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509760" cy="38404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常见问题与排查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164592"/>
            <a:ext cx="123444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09/26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051560"/>
            <a:ext cx="100584" cy="66751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10642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ImportError → 检查是否激活虚拟环境并安装依赖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2880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28800"/>
            <a:ext cx="100584" cy="66751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88366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icrosoft YaHei"/>
              </a:rPr>
              <a:t>NotImplementedError → 函数未完成，pytest 已跳过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606039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606039"/>
            <a:ext cx="100584" cy="66751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2660903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测试失败 → 看 pytest 错误信息，检查矩阵维度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383279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383279"/>
            <a:ext cx="100584" cy="6675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438143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结果图未生成 → 先通过测试再运行 demo 脚本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16052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160520"/>
            <a:ext cx="100584" cy="66751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421538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Actions 评分 0 分 → PR 标题格式不符或代码未推送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1051560"/>
            <a:ext cx="5074920" cy="51663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1417320"/>
            <a:ext cx="4480560" cy="32004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0E2142"/>
                </a:solidFill>
                <a:latin typeface="Microsoft YaHei"/>
              </a:rPr>
              <a:t>本页关键词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95160" y="2011680"/>
            <a:ext cx="502920" cy="38404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2066544"/>
            <a:ext cx="411480" cy="23774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2029968"/>
            <a:ext cx="342900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Microsoft YaHei"/>
              </a:rPr>
              <a:t>ImportError → 检查是否激活虚拟环境并安装依赖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95160" y="2724912"/>
            <a:ext cx="502920" cy="38404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0" y="2779776"/>
            <a:ext cx="411480" cy="23774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2743200"/>
            <a:ext cx="342900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Microsoft YaHei"/>
              </a:rPr>
              <a:t>NotImplementedError → 函数未完成，pytest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95160" y="3438144"/>
            <a:ext cx="50292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0" y="3493008"/>
            <a:ext cx="411480" cy="23774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3456432"/>
            <a:ext cx="342900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Microsoft YaHei"/>
              </a:rPr>
              <a:t>测试失败 → 看 pytest 错误信息，检查矩阵维度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95160" y="4151376"/>
            <a:ext cx="502920" cy="384048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0" y="4206240"/>
            <a:ext cx="411480" cy="23774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4169663"/>
            <a:ext cx="342900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Microsoft YaHei"/>
              </a:rPr>
              <a:t>结果图未生成 → 先通过测试再运行 demo 脚本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5989320"/>
            <a:ext cx="10972800" cy="347472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6071616"/>
            <a:ext cx="10652760" cy="16459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475569"/>
                </a:solidFill>
                <a:latin typeface="Microsoft YaHei"/>
              </a:rPr>
              <a:t>讲解提示：遇到问题先看终端报错，99% 的问题在报错里有提示。不要直接修改测试文件来绕过评分。实验报告中需附上通过测试的截图和结果图。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6510528"/>
            <a:ext cx="548640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</a:rPr>
              <a:t>无线通信技术 · 信道编码与信道均衡实验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6510528"/>
            <a:ext cx="402336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代码补全 · 仿真验证 · GitHub 自动评分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142"/>
          </a:solidFill>
          <a:ln>
            <a:solidFill>
              <a:srgbClr val="0E2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64E3B"/>
          </a:solidFill>
          <a:ln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4206240" cy="50292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l"/>
            <a:r>
              <a:rPr sz="3800" b="1">
                <a:solidFill>
                  <a:srgbClr val="10B981"/>
                </a:solidFill>
                <a:latin typeface="Microsoft YaHei"/>
              </a:rPr>
              <a:t>Part 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3749039" cy="5486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4206240" cy="10972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信道编码与均衡技术原理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3383280"/>
            <a:ext cx="256032" cy="25603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3401568"/>
            <a:ext cx="3749039" cy="219456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200" b="0">
                <a:solidFill>
                  <a:srgbClr val="F1F5F9"/>
                </a:solidFill>
                <a:latin typeface="Microsoft YaHei"/>
              </a:rPr>
              <a:t>什么是信道编码：对抗随机误码的冗余保护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3931920"/>
            <a:ext cx="256032" cy="25603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3950207"/>
            <a:ext cx="3749039" cy="219456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200" b="0">
                <a:solidFill>
                  <a:srgbClr val="F1F5F9"/>
                </a:solidFill>
                <a:latin typeface="Microsoft YaHei"/>
              </a:rPr>
              <a:t>什么是信道均衡：消除多径造成的符号间干扰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" y="4480560"/>
            <a:ext cx="256032" cy="25603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4498848"/>
            <a:ext cx="3749039" cy="219456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200" b="0">
                <a:solidFill>
                  <a:srgbClr val="F1F5F9"/>
                </a:solidFill>
                <a:latin typeface="Microsoft YaHei"/>
              </a:rPr>
              <a:t>本实验编码技术：Hamming(7,4) 线性分组码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" y="5029200"/>
            <a:ext cx="256032" cy="25603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5047488"/>
            <a:ext cx="3749039" cy="219456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200" b="0">
                <a:solidFill>
                  <a:srgbClr val="F1F5F9"/>
                </a:solidFill>
                <a:latin typeface="Microsoft YaHei"/>
              </a:rPr>
              <a:t>本实验均衡技术：ZF 迫零 + LMS 自适应均衡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577840"/>
            <a:ext cx="256032" cy="25603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5596127"/>
            <a:ext cx="3749039" cy="219456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200" b="0">
                <a:solidFill>
                  <a:srgbClr val="F1F5F9"/>
                </a:solidFill>
                <a:latin typeface="Microsoft YaHei"/>
              </a:rPr>
              <a:t>每项技术均含具体数值计算例子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1645920"/>
            <a:ext cx="5943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l"/>
            <a:r>
              <a:rPr sz="2000" b="0">
                <a:solidFill>
                  <a:srgbClr val="64748B"/>
                </a:solidFill>
                <a:latin typeface="Microsoft YaHei"/>
              </a:rPr>
              <a:t>无线通信技术实验 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2194560"/>
            <a:ext cx="5943600" cy="45720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0" y="2377440"/>
            <a:ext cx="5943600" cy="82296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信道编码与信道均衡综合实验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4937760"/>
            <a:ext cx="192024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5000" y="4992624"/>
            <a:ext cx="1828800" cy="23774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原理 + 例子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4937760"/>
            <a:ext cx="1920240" cy="384048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0" y="4992624"/>
            <a:ext cx="1828800" cy="23774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数值计算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66960" y="4937760"/>
            <a:ext cx="1920240" cy="38404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4992624"/>
            <a:ext cx="1828800" cy="23774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代码映射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E2142"/>
          </a:solidFill>
          <a:ln>
            <a:solidFill>
              <a:srgbClr val="0E2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509760" cy="38404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无线信道的两个核心问题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164592"/>
            <a:ext cx="123444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11/26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051560"/>
            <a:ext cx="100584" cy="66751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10642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问题1：加性噪声 → 0/1 判决错误 → BER 升高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2880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28800"/>
            <a:ext cx="100584" cy="66751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88366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问题2：多径传播 → 不同延迟路径叠加 → ISI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606039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606039"/>
            <a:ext cx="100584" cy="66751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2660903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ISI 使眼图闭合，BER 大幅恶化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383279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383279"/>
            <a:ext cx="100584" cy="6675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438143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编码对抗误码：加冗余，接收端能检测并纠正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16052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160520"/>
            <a:ext cx="100584" cy="66751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421538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均衡对抗 ISI：逆卷积，补偿信道失真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1051560"/>
            <a:ext cx="5074920" cy="51663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1417320"/>
            <a:ext cx="4480560" cy="32004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0E2142"/>
                </a:solidFill>
                <a:latin typeface="Microsoft YaHei"/>
              </a:rPr>
              <a:t>本页关键词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95160" y="2011680"/>
            <a:ext cx="502920" cy="38404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2066544"/>
            <a:ext cx="411480" cy="23774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2029968"/>
            <a:ext cx="342900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Microsoft YaHei"/>
              </a:rPr>
              <a:t>问题1：加性噪声 → 0/1 判决错误 → BER 升高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95160" y="2724912"/>
            <a:ext cx="502920" cy="38404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0" y="2779776"/>
            <a:ext cx="411480" cy="23774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2743200"/>
            <a:ext cx="342900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Microsoft YaHei"/>
              </a:rPr>
              <a:t>问题2：多径传播 → 不同延迟路径叠加 → ISI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95160" y="3438144"/>
            <a:ext cx="50292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0" y="3493008"/>
            <a:ext cx="411480" cy="23774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3456432"/>
            <a:ext cx="342900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Microsoft YaHei"/>
              </a:rPr>
              <a:t>ISI 使眼图闭合，BER 大幅恶化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95160" y="4151376"/>
            <a:ext cx="502920" cy="384048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0" y="4206240"/>
            <a:ext cx="411480" cy="23774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4169663"/>
            <a:ext cx="342900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Microsoft YaHei"/>
              </a:rPr>
              <a:t>编码对抗误码：加冗余，接收端能检测并纠正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5989320"/>
            <a:ext cx="10972800" cy="347472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6071616"/>
            <a:ext cx="10652760" cy="16459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475569"/>
                </a:solidFill>
                <a:latin typeface="Microsoft YaHei"/>
              </a:rPr>
              <a:t>讲解提示：可在白板画出：发送比特 → 编码 → 调制 → 信道（噪声+多径）→ 均衡 → 解调 → 译码。两个问题在接收端先后处理，顺序不能颠倒。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6510528"/>
            <a:ext cx="548640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</a:rPr>
              <a:t>无线通信技术 · 信道编码与信道均衡实验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6510528"/>
            <a:ext cx="402336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代码补全 · 仿真验证 · GitHub 自动评分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E2142"/>
          </a:solidFill>
          <a:ln>
            <a:solidFill>
              <a:srgbClr val="0E2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509760" cy="38404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信道编码的直观思想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164592"/>
            <a:ext cx="123444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12/26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051560"/>
            <a:ext cx="100584" cy="66751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10642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不直接发送裸信息比特，加入校验冗余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2880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28800"/>
            <a:ext cx="100584" cy="66751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88366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合法码字在所有可能序列中只是一小部分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606039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606039"/>
            <a:ext cx="100584" cy="66751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2660903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若接收序列不是合法码字，说明发生了错误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383279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383279"/>
            <a:ext cx="100584" cy="6675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438143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小错误（1 bit 翻转）可被定位并纠正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16052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160520"/>
            <a:ext cx="100584" cy="66751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421538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代价：码率 R = k/n &lt; 1，需要更多带宽或时间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1051560"/>
            <a:ext cx="5074920" cy="51663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1417320"/>
            <a:ext cx="4480560" cy="32004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0E2142"/>
                </a:solidFill>
                <a:latin typeface="Microsoft YaHei"/>
              </a:rPr>
              <a:t>本页关键词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95160" y="2011680"/>
            <a:ext cx="502920" cy="38404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2066544"/>
            <a:ext cx="411480" cy="23774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2029968"/>
            <a:ext cx="342900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Microsoft YaHei"/>
              </a:rPr>
              <a:t>不直接发送裸信息比特，加入校验冗余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95160" y="2724912"/>
            <a:ext cx="502920" cy="38404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0" y="2779776"/>
            <a:ext cx="411480" cy="23774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2743200"/>
            <a:ext cx="342900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Microsoft YaHei"/>
              </a:rPr>
              <a:t>合法码字在所有可能序列中只是一小部分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95160" y="3438144"/>
            <a:ext cx="50292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0" y="3493008"/>
            <a:ext cx="411480" cy="23774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3456432"/>
            <a:ext cx="342900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Microsoft YaHei"/>
              </a:rPr>
              <a:t>若接收序列不是合法码字，说明发生了错误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95160" y="4151376"/>
            <a:ext cx="502920" cy="384048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0" y="4206240"/>
            <a:ext cx="411480" cy="23774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4169663"/>
            <a:ext cx="342900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Microsoft YaHei"/>
              </a:rPr>
              <a:t>小错误（1 bit 翻转）可被定位并纠正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5989320"/>
            <a:ext cx="10972800" cy="347472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6071616"/>
            <a:ext cx="10652760" cy="16459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475569"/>
                </a:solidFill>
                <a:latin typeface="Microsoft YaHei"/>
              </a:rPr>
              <a:t>讲解提示：类比"身份证号码末位校验"：最后一位是冗余信息，用来检测录入错误。Hamming(7,4) 每 4 个信息比特加 3 个校验比特，码率 R = 4/7 约 0.571。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6510528"/>
            <a:ext cx="548640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</a:rPr>
              <a:t>无线通信技术 · 信道编码与信道均衡实验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6510528"/>
            <a:ext cx="402336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代码补全 · 仿真验证 · GitHub 自动评分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E2142"/>
          </a:solidFill>
          <a:ln>
            <a:solidFill>
              <a:srgbClr val="0E2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509760" cy="38404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Hamming(7,4) 参数与能力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164592"/>
            <a:ext cx="123444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13/26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051560"/>
            <a:ext cx="100584" cy="66751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10642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信息比特 k=4，码字长度 n=7，校验比特 r=3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2880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28800"/>
            <a:ext cx="100584" cy="66751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88366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码率：R = 4/7 ≈ 0.571（约57%用于信息）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606039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606039"/>
            <a:ext cx="100584" cy="66751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2660903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最小距离：d_min = 3，可纠正任意 1 bit 错误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383279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383279"/>
            <a:ext cx="100584" cy="6675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438143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系统码：码字前 4 位保留原始信息，后 3 位为校验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16052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160520"/>
            <a:ext cx="100584" cy="66751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421538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icrosoft YaHei"/>
              </a:rPr>
              <a:t>HAMMING_G（4×7）和 HAMMING_H（3×7）已在代码中定义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1051560"/>
            <a:ext cx="5074920" cy="51663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1417320"/>
            <a:ext cx="4480560" cy="32004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0E2142"/>
                </a:solidFill>
                <a:latin typeface="Microsoft YaHei"/>
              </a:rPr>
              <a:t>Hamming(7,4) 核心链路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1874519"/>
            <a:ext cx="42519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14032" y="1965960"/>
            <a:ext cx="3794760" cy="20116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Microsoft YaHei"/>
              </a:rPr>
              <a:t>u = [u1,u2,u3,u4]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8" y="2286000"/>
            <a:ext cx="320040" cy="1828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EA5E9"/>
                </a:solidFill>
                <a:latin typeface="Microsoft YaHei"/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03720" y="2496312"/>
            <a:ext cx="42519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14032" y="2587752"/>
            <a:ext cx="3794760" cy="20116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Microsoft YaHei"/>
              </a:rPr>
              <a:t>c = uG mod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87968" y="2907792"/>
            <a:ext cx="320040" cy="1828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EA5E9"/>
                </a:solidFill>
                <a:latin typeface="Microsoft YaHei"/>
              </a:rPr>
              <a:t>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03720" y="3118104"/>
            <a:ext cx="42519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14032" y="3209544"/>
            <a:ext cx="3794760" cy="20116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Microsoft YaHei"/>
              </a:rPr>
              <a:t>s = rHᵀ mod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3529584"/>
            <a:ext cx="320040" cy="1828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EA5E9"/>
                </a:solidFill>
                <a:latin typeface="Microsoft YaHei"/>
              </a:rPr>
              <a:t>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03720" y="3739896"/>
            <a:ext cx="42519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14032" y="3831335"/>
            <a:ext cx="3794760" cy="20116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Microsoft YaHei"/>
              </a:rPr>
              <a:t>s → 错误位置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87968" y="4151376"/>
            <a:ext cx="320040" cy="1828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EA5E9"/>
                </a:solidFill>
                <a:latin typeface="Microsoft YaHei"/>
              </a:rPr>
              <a:t>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03720" y="4361688"/>
            <a:ext cx="42519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14032" y="4453127"/>
            <a:ext cx="3794760" cy="20116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Microsoft YaHei"/>
              </a:rPr>
              <a:t>取前4位恢复信息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5989320"/>
            <a:ext cx="10972800" cy="347472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6071616"/>
            <a:ext cx="10652760" cy="16459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475569"/>
                </a:solidFill>
                <a:latin typeface="Microsoft YaHei"/>
              </a:rPr>
              <a:t>讲解提示：d_min=3 的含义：任意两个合法码字至少有 3 个位置不同。因此 1 个错误后，距离最近的合法码字仍是原始码字，判决正确。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6510528"/>
            <a:ext cx="548640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</a:rPr>
              <a:t>无线通信技术 · 信道编码与信道均衡实验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6510528"/>
            <a:ext cx="402336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代码补全 · 仿真验证 · GitHub 自动评分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E2142"/>
          </a:solidFill>
          <a:ln>
            <a:solidFill>
              <a:srgbClr val="0E2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509760" cy="38404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生成矩阵 G 与编码公式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164592"/>
            <a:ext cx="123444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14/26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051560"/>
            <a:ext cx="100584" cy="66751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10642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G 是 4×7 矩阵，在 GF(2) 二元域上运算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2880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28800"/>
            <a:ext cx="100584" cy="66751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88366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编码公式：c = u × G mod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606039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606039"/>
            <a:ext cx="100584" cy="66751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2660903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u 是 1×4 行向量，c 是 1×7 码字行向量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383279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383279"/>
            <a:ext cx="100584" cy="6675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438143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icrosoft YaHei"/>
              </a:rPr>
              <a:t>批量编码：bits.reshape(-1, 4) @ HAMMING_G %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16052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160520"/>
            <a:ext cx="100584" cy="66751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421538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所有结果必须对 2 取模，保持 0/1 二进制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1051560"/>
            <a:ext cx="5074920" cy="51663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1417320"/>
            <a:ext cx="4480560" cy="32004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0E2142"/>
                </a:solidFill>
                <a:latin typeface="Microsoft YaHei"/>
              </a:rPr>
              <a:t>Hamming(7,4) 核心链路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1874519"/>
            <a:ext cx="42519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14032" y="1965960"/>
            <a:ext cx="3794760" cy="20116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Microsoft YaHei"/>
              </a:rPr>
              <a:t>u = [u1,u2,u3,u4]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8" y="2286000"/>
            <a:ext cx="320040" cy="1828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EA5E9"/>
                </a:solidFill>
                <a:latin typeface="Microsoft YaHei"/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03720" y="2496312"/>
            <a:ext cx="42519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14032" y="2587752"/>
            <a:ext cx="3794760" cy="20116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Microsoft YaHei"/>
              </a:rPr>
              <a:t>c = uG mod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87968" y="2907792"/>
            <a:ext cx="320040" cy="1828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EA5E9"/>
                </a:solidFill>
                <a:latin typeface="Microsoft YaHei"/>
              </a:rPr>
              <a:t>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03720" y="3118104"/>
            <a:ext cx="42519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14032" y="3209544"/>
            <a:ext cx="3794760" cy="20116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Microsoft YaHei"/>
              </a:rPr>
              <a:t>s = rHᵀ mod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3529584"/>
            <a:ext cx="320040" cy="1828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EA5E9"/>
                </a:solidFill>
                <a:latin typeface="Microsoft YaHei"/>
              </a:rPr>
              <a:t>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03720" y="3739896"/>
            <a:ext cx="42519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14032" y="3831335"/>
            <a:ext cx="3794760" cy="20116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Microsoft YaHei"/>
              </a:rPr>
              <a:t>s → 错误位置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87968" y="4151376"/>
            <a:ext cx="320040" cy="1828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EA5E9"/>
                </a:solidFill>
                <a:latin typeface="Microsoft YaHei"/>
              </a:rPr>
              <a:t>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03720" y="4361688"/>
            <a:ext cx="42519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14032" y="4453127"/>
            <a:ext cx="3794760" cy="20116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Microsoft YaHei"/>
              </a:rPr>
              <a:t>取前4位恢复信息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5989320"/>
            <a:ext cx="10972800" cy="347472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6071616"/>
            <a:ext cx="10652760" cy="16459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475569"/>
                </a:solidFill>
                <a:latin typeface="Microsoft YaHei"/>
              </a:rPr>
              <a:t>讲解提示：GF(2) 上矩阵乘法与普通乘法相同，但最后必须 mod 2。常见错误是忘记 mod 2，导致码字出现大于 1 的值，测试直接失败。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6510528"/>
            <a:ext cx="548640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</a:rPr>
              <a:t>无线通信技术 · 信道编码与信道均衡实验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6510528"/>
            <a:ext cx="402336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代码补全 · 仿真验证 · GitHub 自动评分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E2142"/>
          </a:solidFill>
          <a:ln>
            <a:solidFill>
              <a:srgbClr val="0E2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509760" cy="38404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编码例子：u = [1, 0, 1, 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164592"/>
            <a:ext cx="123444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15/26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051560"/>
            <a:ext cx="100584" cy="66751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10642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信息比特 u = [1, 0, 1, 1]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2880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28800"/>
            <a:ext cx="100584" cy="66751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88366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取 G 中 u 非零对应行（第1、3、4行）求和 mod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606039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606039"/>
            <a:ext cx="100584" cy="66751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2660903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icrosoft YaHei"/>
              </a:rPr>
              <a:t>第1行 [1,0,0,0,1,1,0]，第3行 [0,0,1,0,0,1,1]，第4行 [0,0,0,1,1,1,1]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383279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383279"/>
            <a:ext cx="100584" cy="6675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438143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按位异或求和：[1,0,1,1,0,1,0]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16052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160520"/>
            <a:ext cx="100584" cy="66751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421538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验证：码字前4位 [1,0,1,1] = 原始信息 u 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1051560"/>
            <a:ext cx="5074920" cy="51663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1417320"/>
            <a:ext cx="4480560" cy="32004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0E2142"/>
                </a:solidFill>
                <a:latin typeface="Microsoft YaHei"/>
              </a:rPr>
              <a:t>本页关键词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95160" y="2011680"/>
            <a:ext cx="502920" cy="38404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2066544"/>
            <a:ext cx="411480" cy="23774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2029968"/>
            <a:ext cx="342900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Microsoft YaHei"/>
              </a:rPr>
              <a:t>信息比特 u = [1, 0, 1, 1]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95160" y="2724912"/>
            <a:ext cx="502920" cy="38404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0" y="2779776"/>
            <a:ext cx="411480" cy="23774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2743200"/>
            <a:ext cx="342900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Microsoft YaHei"/>
              </a:rPr>
              <a:t>取 G 中 u 非零对应行（第1、3、4行）求和 mod 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95160" y="3438144"/>
            <a:ext cx="50292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0" y="3493008"/>
            <a:ext cx="411480" cy="23774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3456432"/>
            <a:ext cx="342900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Microsoft YaHei"/>
              </a:rPr>
              <a:t>第1行 [1,0,0,0,1,1,0]，第3行 [0,0,1,0,0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95160" y="4151376"/>
            <a:ext cx="502920" cy="384048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0" y="4206240"/>
            <a:ext cx="411480" cy="23774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4169663"/>
            <a:ext cx="342900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Microsoft YaHei"/>
              </a:rPr>
              <a:t>按位异或求和：[1,0,1,1,0,1,0]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5989320"/>
            <a:ext cx="10972800" cy="347472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6071616"/>
            <a:ext cx="10652760" cy="16459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475569"/>
                </a:solidFill>
                <a:latin typeface="Microsoft YaHei"/>
              </a:rPr>
              <a:t>讲解提示：鼓励同学们当场手算并用 Python 验证：np.array([1,0,1,1]) @ HAMMING_G % 2。系统码的好处是不需要额外操作就能从码字中读出信息位。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6510528"/>
            <a:ext cx="548640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</a:rPr>
              <a:t>无线通信技术 · 信道编码与信道均衡实验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6510528"/>
            <a:ext cx="402336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代码补全 · 仿真验证 · GitHub 自动评分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E2142"/>
          </a:solidFill>
          <a:ln>
            <a:solidFill>
              <a:srgbClr val="0E2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509760" cy="38404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校验矩阵 H 与伴随式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164592"/>
            <a:ext cx="123444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16/26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051560"/>
            <a:ext cx="100584" cy="66751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10642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icrosoft YaHei"/>
              </a:rPr>
              <a:t>H 是 3×7 矩阵，对任意合法码字 c 满足：H × c^T = 0 mod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2880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28800"/>
            <a:ext cx="100584" cy="66751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88366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伴随式：s = r × H^T mod 2（r 为接收向量）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606039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606039"/>
            <a:ext cx="100584" cy="66751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2660903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s = [0,0,0] 表示未检测到单比特错误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383279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383279"/>
            <a:ext cx="100584" cy="6675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438143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s ≠ 0 时，s 等于 H 的某列 → 该位置出错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16052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160520"/>
            <a:ext cx="100584" cy="66751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421538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icrosoft YaHei"/>
              </a:rPr>
              <a:t>实现重点：codewords.reshape(-1,7) @ HAMMING_H.T % 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1051560"/>
            <a:ext cx="5074920" cy="51663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1417320"/>
            <a:ext cx="4480560" cy="32004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0E2142"/>
                </a:solidFill>
                <a:latin typeface="Microsoft YaHei"/>
              </a:rPr>
              <a:t>Hamming(7,4) 核心链路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1874519"/>
            <a:ext cx="42519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14032" y="1965960"/>
            <a:ext cx="3794760" cy="20116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Microsoft YaHei"/>
              </a:rPr>
              <a:t>u = [u1,u2,u3,u4]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8" y="2286000"/>
            <a:ext cx="320040" cy="1828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EA5E9"/>
                </a:solidFill>
                <a:latin typeface="Microsoft YaHei"/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03720" y="2496312"/>
            <a:ext cx="42519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14032" y="2587752"/>
            <a:ext cx="3794760" cy="20116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Microsoft YaHei"/>
              </a:rPr>
              <a:t>c = uG mod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87968" y="2907792"/>
            <a:ext cx="320040" cy="1828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EA5E9"/>
                </a:solidFill>
                <a:latin typeface="Microsoft YaHei"/>
              </a:rPr>
              <a:t>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03720" y="3118104"/>
            <a:ext cx="42519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14032" y="3209544"/>
            <a:ext cx="3794760" cy="20116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Microsoft YaHei"/>
              </a:rPr>
              <a:t>s = rHᵀ mod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3529584"/>
            <a:ext cx="320040" cy="1828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EA5E9"/>
                </a:solidFill>
                <a:latin typeface="Microsoft YaHei"/>
              </a:rPr>
              <a:t>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03720" y="3739896"/>
            <a:ext cx="42519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14032" y="3831335"/>
            <a:ext cx="3794760" cy="20116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Microsoft YaHei"/>
              </a:rPr>
              <a:t>s → 错误位置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87968" y="4151376"/>
            <a:ext cx="320040" cy="1828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EA5E9"/>
                </a:solidFill>
                <a:latin typeface="Microsoft YaHei"/>
              </a:rPr>
              <a:t>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03720" y="4361688"/>
            <a:ext cx="42519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14032" y="4453127"/>
            <a:ext cx="3794760" cy="20116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Microsoft YaHei"/>
              </a:rPr>
              <a:t>取前4位恢复信息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5989320"/>
            <a:ext cx="10972800" cy="347472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6071616"/>
            <a:ext cx="10652760" cy="16459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475569"/>
                </a:solidFill>
                <a:latin typeface="Microsoft YaHei"/>
              </a:rPr>
              <a:t>讲解提示：H 是"合法码字的检测器"。没有错误时过 H 得零向量。有错误时 syndrome 就是错误位的 H 列指纹，通过逐列比较精确定位。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6510528"/>
            <a:ext cx="548640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</a:rPr>
              <a:t>无线通信技术 · 信道编码与信道均衡实验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6510528"/>
            <a:ext cx="402336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代码补全 · 仿真验证 · GitHub 自动评分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E2142"/>
          </a:solidFill>
          <a:ln>
            <a:solidFill>
              <a:srgbClr val="0E2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509760" cy="38404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纠错例子：syndrome 定位错误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164592"/>
            <a:ext cx="123444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17/26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051560"/>
            <a:ext cx="100584" cy="66751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10642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发送 c = [1,0,1,1,0,1,0]，第3位翻转为 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2880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28800"/>
            <a:ext cx="100584" cy="66751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88366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接收 r = [1,0,0,1,0,1,0]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606039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606039"/>
            <a:ext cx="100584" cy="66751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2660903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计算 s = r × H^T mod 2 = [0,1,1]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383279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383279"/>
            <a:ext cx="100584" cy="6675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438143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H 第3列 = [0,1,1]，与 s 完全匹配 → 第3位出错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16052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160520"/>
            <a:ext cx="100584" cy="66751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421538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icrosoft YaHei"/>
              </a:rPr>
              <a:t>翻转 r[2]：得到 [1,0,1,1,0,1,0]，取前4位 [1,0,1,1] 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1051560"/>
            <a:ext cx="5074920" cy="51663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1417320"/>
            <a:ext cx="4480560" cy="32004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0E2142"/>
                </a:solidFill>
                <a:latin typeface="Microsoft YaHei"/>
              </a:rPr>
              <a:t>Hamming(7,4) 核心链路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1874519"/>
            <a:ext cx="42519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14032" y="1965960"/>
            <a:ext cx="3794760" cy="20116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Microsoft YaHei"/>
              </a:rPr>
              <a:t>u = [u1,u2,u3,u4]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8" y="2286000"/>
            <a:ext cx="320040" cy="1828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EA5E9"/>
                </a:solidFill>
                <a:latin typeface="Microsoft YaHei"/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03720" y="2496312"/>
            <a:ext cx="42519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14032" y="2587752"/>
            <a:ext cx="3794760" cy="20116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Microsoft YaHei"/>
              </a:rPr>
              <a:t>c = uG mod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87968" y="2907792"/>
            <a:ext cx="320040" cy="1828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EA5E9"/>
                </a:solidFill>
                <a:latin typeface="Microsoft YaHei"/>
              </a:rPr>
              <a:t>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03720" y="3118104"/>
            <a:ext cx="42519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14032" y="3209544"/>
            <a:ext cx="3794760" cy="20116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Microsoft YaHei"/>
              </a:rPr>
              <a:t>s = rHᵀ mod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3529584"/>
            <a:ext cx="320040" cy="1828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EA5E9"/>
                </a:solidFill>
                <a:latin typeface="Microsoft YaHei"/>
              </a:rPr>
              <a:t>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03720" y="3739896"/>
            <a:ext cx="42519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14032" y="3831335"/>
            <a:ext cx="3794760" cy="20116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Microsoft YaHei"/>
              </a:rPr>
              <a:t>s → 错误位置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87968" y="4151376"/>
            <a:ext cx="320040" cy="1828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EA5E9"/>
                </a:solidFill>
                <a:latin typeface="Microsoft YaHei"/>
              </a:rPr>
              <a:t>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03720" y="4361688"/>
            <a:ext cx="42519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14032" y="4453127"/>
            <a:ext cx="3794760" cy="20116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Microsoft YaHei"/>
              </a:rPr>
              <a:t>取前4位恢复信息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5989320"/>
            <a:ext cx="10972800" cy="347472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6071616"/>
            <a:ext cx="10652760" cy="16459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475569"/>
                </a:solidFill>
                <a:latin typeface="Microsoft YaHei"/>
              </a:rPr>
              <a:t>讲解提示：这是 hamming74_decode 的完整实现流程：reshape → syndrome → 逐列比较 → 翻转 → 取前4位。提醒不要修改原始数组，建议 receiv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6510528"/>
            <a:ext cx="548640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</a:rPr>
              <a:t>无线通信技术 · 信道编码与信道均衡实验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6510528"/>
            <a:ext cx="402336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代码补全 · 仿真验证 · GitHub 自动评分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E2142"/>
          </a:solidFill>
          <a:ln>
            <a:solidFill>
              <a:srgbClr val="0E2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509760" cy="38404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Hamming 编码增益：BER 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164592"/>
            <a:ext cx="123444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18/26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051560"/>
            <a:ext cx="100584" cy="66751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10642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未编码 BER = p（直接受噪声影响）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2880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28800"/>
            <a:ext cx="100584" cy="66751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88366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编码后只有 2 个以上比特同时出错才导致误判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606039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606039"/>
            <a:ext cx="100584" cy="66751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2660903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icrosoft YaHei"/>
              </a:rPr>
              <a:t>p=0.01：未编码 BER=0.01，编码后约 0.002（改善 5 倍）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383279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383279"/>
            <a:ext cx="100584" cy="6675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438143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p=0.05：改善仍明显；p&gt;0.3 时编码增益消失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16052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160520"/>
            <a:ext cx="100584" cy="66751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421538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icrosoft YaHei"/>
              </a:rPr>
              <a:t>实验生成 results/coding_ber_curve.png 可视化对比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1051560"/>
            <a:ext cx="5074920" cy="51663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1417320"/>
            <a:ext cx="4480560" cy="32004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0E2142"/>
                </a:solidFill>
                <a:latin typeface="Microsoft YaHei"/>
              </a:rPr>
              <a:t>Hamming(7,4) 核心链路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1874519"/>
            <a:ext cx="42519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14032" y="1965960"/>
            <a:ext cx="3794760" cy="20116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Microsoft YaHei"/>
              </a:rPr>
              <a:t>u = [u1,u2,u3,u4]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8" y="2286000"/>
            <a:ext cx="320040" cy="1828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EA5E9"/>
                </a:solidFill>
                <a:latin typeface="Microsoft YaHei"/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03720" y="2496312"/>
            <a:ext cx="42519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14032" y="2587752"/>
            <a:ext cx="3794760" cy="20116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Microsoft YaHei"/>
              </a:rPr>
              <a:t>c = uG mod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87968" y="2907792"/>
            <a:ext cx="320040" cy="1828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EA5E9"/>
                </a:solidFill>
                <a:latin typeface="Microsoft YaHei"/>
              </a:rPr>
              <a:t>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03720" y="3118104"/>
            <a:ext cx="42519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14032" y="3209544"/>
            <a:ext cx="3794760" cy="20116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Microsoft YaHei"/>
              </a:rPr>
              <a:t>s = rHᵀ mod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3529584"/>
            <a:ext cx="320040" cy="1828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EA5E9"/>
                </a:solidFill>
                <a:latin typeface="Microsoft YaHei"/>
              </a:rPr>
              <a:t>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03720" y="3739896"/>
            <a:ext cx="42519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14032" y="3831335"/>
            <a:ext cx="3794760" cy="20116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Microsoft YaHei"/>
              </a:rPr>
              <a:t>s → 错误位置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87968" y="4151376"/>
            <a:ext cx="320040" cy="1828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EA5E9"/>
                </a:solidFill>
                <a:latin typeface="Microsoft YaHei"/>
              </a:rPr>
              <a:t>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03720" y="4361688"/>
            <a:ext cx="42519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14032" y="4453127"/>
            <a:ext cx="3794760" cy="20116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Microsoft YaHei"/>
              </a:rPr>
              <a:t>取前4位恢复信息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5989320"/>
            <a:ext cx="10972800" cy="347472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6071616"/>
            <a:ext cx="10652760" cy="16459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475569"/>
                </a:solidFill>
                <a:latin typeface="Microsoft YaHei"/>
              </a:rPr>
              <a:t>讲解提示：BER 曲线是验证编码实现正确性的关键。编码后 BER 曲线应在低翻转概率段明显低于未编码线，高概率段两者趋近。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6510528"/>
            <a:ext cx="548640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</a:rPr>
              <a:t>无线通信技术 · 信道编码与信道均衡实验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6510528"/>
            <a:ext cx="402336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代码补全 · 仿真验证 · GitHub 自动评分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E2142"/>
          </a:solidFill>
          <a:ln>
            <a:solidFill>
              <a:srgbClr val="0E2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509760" cy="38404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选做：卷积码 (2,1,3) 简介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164592"/>
            <a:ext cx="123444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19/26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051560"/>
            <a:ext cx="100584" cy="66751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10642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输入每 1 bit，输出 2 bit，码率 R = 1/2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2880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28800"/>
            <a:ext cx="100584" cy="66751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88366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编码器有记忆：3 个移位寄存器存储历史比特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606039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606039"/>
            <a:ext cx="100584" cy="66751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2660903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生成多项式：g1 = [1,1,1]，g2 = [1,0,1]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383279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383279"/>
            <a:ext cx="100584" cy="6675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438143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每个输出比特 = 当前输入与移位寄存器 XOR 组合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16052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160520"/>
            <a:ext cx="100584" cy="66751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421538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Viterbi 硬判决译码：按最小汉明距离搜索最优路径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1051560"/>
            <a:ext cx="5074920" cy="51663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1417320"/>
            <a:ext cx="4480560" cy="32004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0E2142"/>
                </a:solidFill>
                <a:latin typeface="Microsoft YaHei"/>
              </a:rPr>
              <a:t>本页关键词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95160" y="2011680"/>
            <a:ext cx="502920" cy="38404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2066544"/>
            <a:ext cx="411480" cy="23774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2029968"/>
            <a:ext cx="342900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Microsoft YaHei"/>
              </a:rPr>
              <a:t>输入每 1 bit，输出 2 bit，码率 R = 1/2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95160" y="2724912"/>
            <a:ext cx="502920" cy="38404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0" y="2779776"/>
            <a:ext cx="411480" cy="23774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2743200"/>
            <a:ext cx="342900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Microsoft YaHei"/>
              </a:rPr>
              <a:t>编码器有记忆：3 个移位寄存器存储历史比特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95160" y="3438144"/>
            <a:ext cx="50292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0" y="3493008"/>
            <a:ext cx="411480" cy="23774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3456432"/>
            <a:ext cx="342900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Microsoft YaHei"/>
              </a:rPr>
              <a:t>生成多项式：g1 = [1,1,1]，g2 = [1,0,1]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95160" y="4151376"/>
            <a:ext cx="502920" cy="384048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0" y="4206240"/>
            <a:ext cx="411480" cy="23774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4169663"/>
            <a:ext cx="342900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Microsoft YaHei"/>
              </a:rPr>
              <a:t>每个输出比特 = 当前输入与移位寄存器 XOR 组合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5989320"/>
            <a:ext cx="10972800" cy="347472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6071616"/>
            <a:ext cx="10652760" cy="16459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475569"/>
                </a:solidFill>
                <a:latin typeface="Microsoft YaHei"/>
              </a:rPr>
              <a:t>讲解提示：卷积码是选做任务，不计入必做分数。与 Hamming 分组码不同，卷积码有编码记忆，纠错能力更强，广泛用于 GSM 等实际系统。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6510528"/>
            <a:ext cx="548640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</a:rPr>
              <a:t>无线通信技术 · 信道编码与信道均衡实验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6510528"/>
            <a:ext cx="402336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代码补全 · 仿真验证 · GitHub 自动评分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E2142"/>
          </a:solidFill>
          <a:ln>
            <a:solidFill>
              <a:srgbClr val="0E2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509760" cy="38404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什么是信道均衡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164592"/>
            <a:ext cx="123444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20/26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051560"/>
            <a:ext cx="100584" cy="66751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10642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多径：信号经直达、反射、绕射多条路径到达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2880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28800"/>
            <a:ext cx="100584" cy="66751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88366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每条路径有不同的延迟和增益，叠加形成 ISI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606039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606039"/>
            <a:ext cx="100584" cy="66751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2660903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接收信号 = 发送信号 * 信道冲激响应 + 噪声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383279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383279"/>
            <a:ext cx="100584" cy="6675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438143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均衡器 = FIR 滤波器，目标：抵消信道卷积失真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16052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160520"/>
            <a:ext cx="100584" cy="66751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421538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均衡后信号更接近原始符号，眼图重新张开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1051560"/>
            <a:ext cx="5074920" cy="51663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1417320"/>
            <a:ext cx="4480560" cy="32004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0E2142"/>
                </a:solidFill>
                <a:latin typeface="Microsoft YaHei"/>
              </a:rPr>
              <a:t>本页关键词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95160" y="2011680"/>
            <a:ext cx="502920" cy="38404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2066544"/>
            <a:ext cx="411480" cy="23774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2029968"/>
            <a:ext cx="342900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Microsoft YaHei"/>
              </a:rPr>
              <a:t>多径：信号经直达、反射、绕射多条路径到达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95160" y="2724912"/>
            <a:ext cx="502920" cy="38404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0" y="2779776"/>
            <a:ext cx="411480" cy="23774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2743200"/>
            <a:ext cx="342900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Microsoft YaHei"/>
              </a:rPr>
              <a:t>每条路径有不同的延迟和增益，叠加形成 ISI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95160" y="3438144"/>
            <a:ext cx="50292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0" y="3493008"/>
            <a:ext cx="411480" cy="23774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3456432"/>
            <a:ext cx="342900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Microsoft YaHei"/>
              </a:rPr>
              <a:t>接收信号 = 发送信号 * 信道冲激响应 + 噪声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95160" y="4151376"/>
            <a:ext cx="502920" cy="384048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0" y="4206240"/>
            <a:ext cx="411480" cy="23774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4169663"/>
            <a:ext cx="342900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Microsoft YaHei"/>
              </a:rPr>
              <a:t>均衡器 = FIR 滤波器，目标：抵消信道卷积失真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5989320"/>
            <a:ext cx="10972800" cy="347472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6071616"/>
            <a:ext cx="10652760" cy="16459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475569"/>
                </a:solidFill>
                <a:latin typeface="Microsoft YaHei"/>
              </a:rPr>
              <a:t>讲解提示：多径类比：在空旷山谷说话会听到回声，每次回声是一条额外路径。数字通信中每个符号的"回声"叠加到下一个符号，就是 ISI。均衡器的作用是消除这些回声。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6510528"/>
            <a:ext cx="548640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</a:rPr>
              <a:t>无线通信技术 · 信道编码与信道均衡实验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6510528"/>
            <a:ext cx="402336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代码补全 · 仿真验证 · GitHub 自动评分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E2142"/>
          </a:solidFill>
          <a:ln>
            <a:solidFill>
              <a:srgbClr val="0E2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509760" cy="38404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多径信道模型与 ISI 数值例子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164592"/>
            <a:ext cx="123444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21/26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051560"/>
            <a:ext cx="100584" cy="66751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10642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实验信道：h = [0.9, 0.35, -0.25]（3 径模型）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2880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28800"/>
            <a:ext cx="100584" cy="66751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88366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icrosoft YaHei"/>
              </a:rPr>
              <a:t>y[n] = 0.9·x[n] + 0.35·x[n-1] - 0.25·x[n-2]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606039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606039"/>
            <a:ext cx="100584" cy="66751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2660903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发送 x = [+1, -1, +1]，计算各采样点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383279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383279"/>
            <a:ext cx="100584" cy="6675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438143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icrosoft YaHei"/>
              </a:rPr>
              <a:t>y[0] = 0.9，y[1] = -0.55，y[2] = 0.30（本应接近+1）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16052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160520"/>
            <a:ext cx="100584" cy="66751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421538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ISI 使 y[2] 偏离 +1 达 0.70，判决容易出错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1051560"/>
            <a:ext cx="5074920" cy="51663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1417320"/>
            <a:ext cx="4480560" cy="32004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0E2142"/>
                </a:solidFill>
                <a:latin typeface="Microsoft YaHei"/>
              </a:rPr>
              <a:t>ISI 数值计算过程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1874519"/>
            <a:ext cx="4251960" cy="25603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475569"/>
                </a:solidFill>
                <a:latin typeface="Microsoft YaHei"/>
              </a:rPr>
              <a:t>h = [0.9, 0.35, −0.25]  ×  x = [+1, −1, +1]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3720" y="2286000"/>
            <a:ext cx="42519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59168" y="2340864"/>
            <a:ext cx="566928" cy="25603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400" b="1">
                <a:solidFill>
                  <a:srgbClr val="0E2142"/>
                </a:solidFill>
                <a:latin typeface="Microsoft YaHei"/>
              </a:rPr>
              <a:t>y[0]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9248" y="2340864"/>
            <a:ext cx="3337560" cy="25603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Microsoft YaHei"/>
              </a:rPr>
              <a:t>= 0.9×(+1)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9248" y="2670048"/>
            <a:ext cx="3337560" cy="25603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300" b="1">
                <a:solidFill>
                  <a:srgbClr val="10B981"/>
                </a:solidFill>
                <a:latin typeface="Microsoft YaHei"/>
              </a:rPr>
              <a:t>= 0.90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03720" y="3200400"/>
            <a:ext cx="42519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59168" y="3255264"/>
            <a:ext cx="566928" cy="25603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400" b="1">
                <a:solidFill>
                  <a:srgbClr val="0E2142"/>
                </a:solidFill>
                <a:latin typeface="Microsoft YaHei"/>
              </a:rPr>
              <a:t>y[1]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99248" y="3255264"/>
            <a:ext cx="3337560" cy="25603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Microsoft YaHei"/>
              </a:rPr>
              <a:t>= 0.9×(−1)+0.35×(+1)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9248" y="3584448"/>
            <a:ext cx="3337560" cy="25603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300" b="1">
                <a:solidFill>
                  <a:srgbClr val="F59E0B"/>
                </a:solidFill>
                <a:latin typeface="Microsoft YaHei"/>
              </a:rPr>
              <a:t>= −0.55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03720" y="4114800"/>
            <a:ext cx="42519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59168" y="4169663"/>
            <a:ext cx="566928" cy="25603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400" b="1">
                <a:solidFill>
                  <a:srgbClr val="0E2142"/>
                </a:solidFill>
                <a:latin typeface="Microsoft YaHei"/>
              </a:rPr>
              <a:t>y[2]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99248" y="4169663"/>
            <a:ext cx="3337560" cy="25603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Microsoft YaHei"/>
              </a:rPr>
              <a:t>= 0.9×(+1)+0.35×(−1)−0.25×(+1)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99248" y="4498848"/>
            <a:ext cx="3337560" cy="25603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300" b="1">
                <a:solidFill>
                  <a:srgbClr val="EF4444"/>
                </a:solidFill>
                <a:latin typeface="Microsoft YaHei"/>
              </a:rPr>
              <a:t>= 0.30 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5138928"/>
            <a:ext cx="4251960" cy="25603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  <a:latin typeface="Microsoft YaHei"/>
              </a:rPr>
              <a:t>x[2]=+1 本应接近 +1，ISI 使其仅为 0.30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5989320"/>
            <a:ext cx="10972800" cy="347472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6071616"/>
            <a:ext cx="10652760" cy="16459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475569"/>
                </a:solidFill>
                <a:latin typeface="Microsoft YaHei"/>
              </a:rPr>
              <a:t>讲解提示：y[2] 本应接近 +1 但只有 0.30，原因是 x[1]=-1 的残留影响。实验用 np.convolve(symbols, h) 模拟，加上噪声后 BER 会显著升高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6510528"/>
            <a:ext cx="548640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</a:rPr>
              <a:t>无线通信技术 · 信道编码与信道均衡实验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6510528"/>
            <a:ext cx="402336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代码补全 · 仿真验证 · GitHub 自动评分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E2142"/>
          </a:solidFill>
          <a:ln>
            <a:solidFill>
              <a:srgbClr val="0E2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509760" cy="38404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ZF 迫零均衡原理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164592"/>
            <a:ext cx="123444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22/26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051560"/>
            <a:ext cx="100584" cy="66751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10642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ZF 目标：channel * taps = δ（理想冲激响应）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2880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28800"/>
            <a:ext cx="100584" cy="66751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88366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构造卷积矩阵 A（信道响应的 Toeplitz 矩阵）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606039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606039"/>
            <a:ext cx="100584" cy="66751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2660903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构造目标向量 d（中心为 1、其余为 0）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383279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383279"/>
            <a:ext cx="100584" cy="6675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438143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求解：np.linalg.lstsq(A, d)，得到最优均衡器抽头 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16052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160520"/>
            <a:ext cx="100584" cy="66751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421538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icrosoft YaHei"/>
              </a:rPr>
              <a:t>实现：estimate_zf_equalizer(channel, num_taps=7)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1051560"/>
            <a:ext cx="5074920" cy="51663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1417320"/>
            <a:ext cx="4480560" cy="32004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0E2142"/>
                </a:solidFill>
                <a:latin typeface="Microsoft YaHei"/>
              </a:rPr>
              <a:t>Zero Forcing 视图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49440" y="2011680"/>
            <a:ext cx="41605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2157984"/>
            <a:ext cx="3794760" cy="1828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Microsoft YaHei"/>
              </a:rPr>
              <a:t>channel * taps ≈ δ[n]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2788920"/>
            <a:ext cx="914400" cy="118872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22592" y="3163824"/>
            <a:ext cx="768096" cy="25603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3246120"/>
            <a:ext cx="320040" cy="1828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475569"/>
                </a:solidFill>
                <a:latin typeface="Microsoft YaHei"/>
              </a:rPr>
              <a:t>×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2788920"/>
            <a:ext cx="914400" cy="118872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85632" y="3163824"/>
            <a:ext cx="768096" cy="25603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40" y="3246120"/>
            <a:ext cx="320040" cy="1828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475569"/>
                </a:solidFill>
                <a:latin typeface="Microsoft YaHei"/>
              </a:rPr>
              <a:t>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75520" y="2788920"/>
            <a:ext cx="914400" cy="118872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48672" y="3163824"/>
            <a:ext cx="768096" cy="25603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5989320"/>
            <a:ext cx="10972800" cy="347472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6071616"/>
            <a:ext cx="10652760" cy="16459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475569"/>
                </a:solidFill>
                <a:latin typeface="Microsoft YaHei"/>
              </a:rPr>
              <a:t>讲解提示：A 矩阵的每一列是信道响应 h 的移位版本。A @ w 等于 channel * w 的卷积，令其等于 δ 就是迫零。lstsq 比矩阵求逆更数值稳定。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10528"/>
            <a:ext cx="548640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</a:rPr>
              <a:t>无线通信技术 · 信道编码与信道均衡实验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6510528"/>
            <a:ext cx="402336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代码补全 · 仿真验证 · GitHub 自动评分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E2142"/>
          </a:solidFill>
          <a:ln>
            <a:solidFill>
              <a:srgbClr val="0E2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509760" cy="38404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ZF 计算例子：h = [0.9, 0.35, -0.25]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164592"/>
            <a:ext cx="123444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23/26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051560"/>
            <a:ext cx="100584" cy="66751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10642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icrosoft YaHei"/>
              </a:rPr>
              <a:t>已知 h = [0.9, 0.35, -0.25]，num_taps =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2880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28800"/>
            <a:ext cx="100584" cy="66751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88366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构造 7×5 的 Toeplitz 矩阵 A（3+5-1=7 行）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606039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606039"/>
            <a:ext cx="100584" cy="66751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2660903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目标 d = [0, 0, 1, 0, 0, 0, 0]（中心在第3位）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383279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383279"/>
            <a:ext cx="100584" cy="6675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438143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icrosoft YaHei"/>
              </a:rPr>
              <a:t>lstsq 求解得 w ≈ [−0.03, −0.16, 1.16, 0.01, 0.05]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16052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160520"/>
            <a:ext cx="100584" cy="66751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421538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icrosoft YaHei"/>
              </a:rPr>
              <a:t>验证：np.convolve(h, w) ≈ [0, 0, 1, 0, 0] 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1051560"/>
            <a:ext cx="5074920" cy="51663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1417320"/>
            <a:ext cx="4480560" cy="32004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0E2142"/>
                </a:solidFill>
                <a:latin typeface="Microsoft YaHei"/>
              </a:rPr>
              <a:t>Zero Forcing 视图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49440" y="2011680"/>
            <a:ext cx="41605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2157984"/>
            <a:ext cx="3794760" cy="1828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Microsoft YaHei"/>
              </a:rPr>
              <a:t>channel * taps ≈ δ[n]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2788920"/>
            <a:ext cx="914400" cy="118872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22592" y="3163824"/>
            <a:ext cx="768096" cy="25603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3246120"/>
            <a:ext cx="320040" cy="1828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475569"/>
                </a:solidFill>
                <a:latin typeface="Microsoft YaHei"/>
              </a:rPr>
              <a:t>×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2788920"/>
            <a:ext cx="914400" cy="118872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85632" y="3163824"/>
            <a:ext cx="768096" cy="25603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40" y="3246120"/>
            <a:ext cx="320040" cy="1828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475569"/>
                </a:solidFill>
                <a:latin typeface="Microsoft YaHei"/>
              </a:rPr>
              <a:t>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75520" y="2788920"/>
            <a:ext cx="914400" cy="118872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48672" y="3163824"/>
            <a:ext cx="768096" cy="25603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5989320"/>
            <a:ext cx="10972800" cy="347472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6071616"/>
            <a:ext cx="10652760" cy="16459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475569"/>
                </a:solidFill>
                <a:latin typeface="Microsoft YaHei"/>
              </a:rPr>
              <a:t>讲解提示：建议当场演示：打印 np.convolve(h, w)，让学生观察中心是否接近1、旁瓣是否接近0。apply_fir_filter 就是把 w 应用到整个接收信号。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10528"/>
            <a:ext cx="548640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</a:rPr>
              <a:t>无线通信技术 · 信道编码与信道均衡实验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6510528"/>
            <a:ext cx="402336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代码补全 · 仿真验证 · GitHub 自动评分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E2142"/>
          </a:solidFill>
          <a:ln>
            <a:solidFill>
              <a:srgbClr val="0E2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509760" cy="38404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LMS 自适应均衡原理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164592"/>
            <a:ext cx="123444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24/26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051560"/>
            <a:ext cx="100584" cy="66751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10642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LMS = Least Mean Squares，不需要已知信道响应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2880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28800"/>
            <a:ext cx="100584" cy="66751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88366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通过训练序列（已知发送符号）迭代学习均衡器抽头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606039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606039"/>
            <a:ext cx="100584" cy="66751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2660903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初始化 w = [0,...,1,...,0]（中心抽头为1）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383279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383279"/>
            <a:ext cx="100584" cy="6675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438143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每步迭代：y=w^T·x，e=d-y，w=w+μ·e·x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16052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160520"/>
            <a:ext cx="100584" cy="66751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421538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步长 μ=0.01：控制收敛速度与稳定性的平衡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1051560"/>
            <a:ext cx="5074920" cy="51663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1417320"/>
            <a:ext cx="4480560" cy="32004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0E2142"/>
                </a:solidFill>
                <a:latin typeface="Microsoft YaHei"/>
              </a:rPr>
              <a:t>LMS 自适应闭环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95160" y="2148840"/>
            <a:ext cx="1508760" cy="62179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68312" y="2313432"/>
            <a:ext cx="1362456" cy="219456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x[n]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18320" y="2148840"/>
            <a:ext cx="1508760" cy="621792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91472" y="2313432"/>
            <a:ext cx="1362456" cy="219456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y=w·x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18320" y="3657600"/>
            <a:ext cx="1508760" cy="62179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91472" y="3822191"/>
            <a:ext cx="1362456" cy="219456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e=d-y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95160" y="3657600"/>
            <a:ext cx="1508760" cy="6217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68312" y="3822191"/>
            <a:ext cx="1362456" cy="219456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w←w+μex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68512" y="2304288"/>
            <a:ext cx="411480" cy="25603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475569"/>
                </a:solidFill>
                <a:latin typeface="Microsoft YaHei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2907792"/>
            <a:ext cx="411480" cy="25603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475569"/>
                </a:solidFill>
                <a:latin typeface="Microsoft YaHei"/>
              </a:rPr>
              <a:t>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8512" y="3813048"/>
            <a:ext cx="411480" cy="25603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475569"/>
                </a:solidFill>
                <a:latin typeface="Microsoft YaHei"/>
              </a:rPr>
              <a:t>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16368" y="2907792"/>
            <a:ext cx="411480" cy="25603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475569"/>
                </a:solidFill>
                <a:latin typeface="Microsoft YaHei"/>
              </a:rPr>
              <a:t>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5989320"/>
            <a:ext cx="10972800" cy="347472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6071616"/>
            <a:ext cx="10652760" cy="16459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475569"/>
                </a:solidFill>
                <a:latin typeface="Microsoft YaHei"/>
              </a:rPr>
              <a:t>讲解提示：LMS 核心是"试一下 → 看误差 → 往误差减小方向修正"。步长 μ 太大则权重振荡发散，太小则需要更多训练样本才能收敛。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6510528"/>
            <a:ext cx="548640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</a:rPr>
              <a:t>无线通信技术 · 信道编码与信道均衡实验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6510528"/>
            <a:ext cx="402336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代码补全 · 仿真验证 · GitHub 自动评分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E2142"/>
          </a:solidFill>
          <a:ln>
            <a:solidFill>
              <a:srgbClr val="0E2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509760" cy="38404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LMS 训练过程与收敛效果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164592"/>
            <a:ext cx="123444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25/26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051560"/>
            <a:ext cx="100584" cy="66751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10642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用前 800 个样本（rx[:800] 与 tx[:800]）做训练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2880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28800"/>
            <a:ext cx="100584" cy="66751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88366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初始误差 |e| 约 0.4~0.9（权重还未收敛）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606039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606039"/>
            <a:ext cx="100584" cy="66751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2660903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训练约 200 步后 MSE 快速下降，进入收敛区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383279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383279"/>
            <a:ext cx="100584" cy="6675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438143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收敛后 MSE 稳定在 0.02~0.05（效果因 μ 而异）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16052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160520"/>
            <a:ext cx="100584" cy="66751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421538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训练完成的 w 用于均衡整段接收信号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1051560"/>
            <a:ext cx="5074920" cy="51663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1417320"/>
            <a:ext cx="4480560" cy="32004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0E2142"/>
                </a:solidFill>
                <a:latin typeface="Microsoft YaHei"/>
              </a:rPr>
              <a:t>LMS 自适应闭环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95160" y="2148840"/>
            <a:ext cx="1508760" cy="62179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68312" y="2313432"/>
            <a:ext cx="1362456" cy="219456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x[n]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18320" y="2148840"/>
            <a:ext cx="1508760" cy="621792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91472" y="2313432"/>
            <a:ext cx="1362456" cy="219456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y=w·x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18320" y="3657600"/>
            <a:ext cx="1508760" cy="62179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91472" y="3822191"/>
            <a:ext cx="1362456" cy="219456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e=d-y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95160" y="3657600"/>
            <a:ext cx="1508760" cy="6217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68312" y="3822191"/>
            <a:ext cx="1362456" cy="219456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w←w+μex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68512" y="2304288"/>
            <a:ext cx="411480" cy="25603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475569"/>
                </a:solidFill>
                <a:latin typeface="Microsoft YaHei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2907792"/>
            <a:ext cx="411480" cy="25603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475569"/>
                </a:solidFill>
                <a:latin typeface="Microsoft YaHei"/>
              </a:rPr>
              <a:t>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8512" y="3813048"/>
            <a:ext cx="411480" cy="25603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475569"/>
                </a:solidFill>
                <a:latin typeface="Microsoft YaHei"/>
              </a:rPr>
              <a:t>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16368" y="2907792"/>
            <a:ext cx="411480" cy="25603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475569"/>
                </a:solidFill>
                <a:latin typeface="Microsoft YaHei"/>
              </a:rPr>
              <a:t>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5989320"/>
            <a:ext cx="10972800" cy="347472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6071616"/>
            <a:ext cx="10652760" cy="16459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475569"/>
                </a:solidFill>
                <a:latin typeface="Microsoft YaHei"/>
              </a:rPr>
              <a:t>讲解提示：提醒学生注意输入向量 x 的方向和长度：每步取 rx[n:n+num_taps] 作为输入向量，与 tx[n] 对应。方向对齐错误会导致 MSE 不下降。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6510528"/>
            <a:ext cx="548640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</a:rPr>
              <a:t>无线通信技术 · 信道编码与信道均衡实验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6510528"/>
            <a:ext cx="402336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代码补全 · 仿真验证 · GitHub 自动评分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E2142"/>
          </a:solidFill>
          <a:ln>
            <a:solidFill>
              <a:srgbClr val="0E2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509760" cy="38404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总结：编码与均衡在无线链路中的位置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164592"/>
            <a:ext cx="1234440" cy="29260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26/26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051560"/>
            <a:ext cx="100584" cy="66751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10642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icrosoft YaHei"/>
              </a:rPr>
              <a:t>发送：信息比特 → Hamming(7,4) 编码 → BPSK 调制 → 发射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2880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28800"/>
            <a:ext cx="100584" cy="66751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88366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信道：多径卷积 + 加性噪声（两问题同时存在）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606039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606039"/>
            <a:ext cx="100584" cy="66751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2660903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icrosoft YaHei"/>
              </a:rPr>
              <a:t>接收：ZF/LMS 均衡 → BPSK 解调 → Hamming 译码 → 恢复比特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383279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383279"/>
            <a:ext cx="100584" cy="6675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438143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两者协同：均衡改善判决质量，编码纠正剩余误码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160520"/>
            <a:ext cx="56235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160520"/>
            <a:ext cx="100584" cy="66751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4215384"/>
            <a:ext cx="5303520" cy="55778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icrosoft YaHei"/>
              </a:rPr>
              <a:t>Q&amp;A：欢迎提问环境配置 / 原理 / 代码实现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1051560"/>
            <a:ext cx="5074920" cy="51663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20840" y="2377440"/>
            <a:ext cx="749808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48272" y="2514600"/>
            <a:ext cx="694944" cy="16459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0E2142"/>
                </a:solidFill>
                <a:latin typeface="Microsoft YaHei"/>
              </a:rPr>
              <a:t>Bits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4071" y="2487168"/>
            <a:ext cx="256032" cy="20116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0EA5E9"/>
                </a:solidFill>
                <a:latin typeface="Microsoft YaHe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16952" y="2377440"/>
            <a:ext cx="749808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44383" y="2514600"/>
            <a:ext cx="694944" cy="16459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0E2142"/>
                </a:solidFill>
                <a:latin typeface="Microsoft YaHei"/>
              </a:rPr>
              <a:t>Encode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0183" y="2487168"/>
            <a:ext cx="256032" cy="20116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0EA5E9"/>
                </a:solidFill>
                <a:latin typeface="Microsoft YaHe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13063" y="2377440"/>
            <a:ext cx="749808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40495" y="2514600"/>
            <a:ext cx="694944" cy="16459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0E2142"/>
                </a:solidFill>
                <a:latin typeface="Microsoft YaHei"/>
              </a:rPr>
              <a:t>Channel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6295" y="2487168"/>
            <a:ext cx="256032" cy="20116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0EA5E9"/>
                </a:solidFill>
                <a:latin typeface="Microsoft YaHei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09176" y="2377440"/>
            <a:ext cx="749808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36607" y="2514600"/>
            <a:ext cx="694944" cy="16459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0E2142"/>
                </a:solidFill>
                <a:latin typeface="Microsoft YaHei"/>
              </a:rPr>
              <a:t>Equalize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22407" y="2487168"/>
            <a:ext cx="256032" cy="201168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0EA5E9"/>
                </a:solidFill>
                <a:latin typeface="Microsoft YaHei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305288" y="2377440"/>
            <a:ext cx="749808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32719" y="2514600"/>
            <a:ext cx="694944" cy="16459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0E2142"/>
                </a:solidFill>
                <a:latin typeface="Microsoft YaHei"/>
              </a:rPr>
              <a:t>Decode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95160" y="3794760"/>
            <a:ext cx="1325880" cy="384048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0" y="3849624"/>
            <a:ext cx="1234439" cy="23774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误码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32520" y="3794760"/>
            <a:ext cx="1325880" cy="384048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0" y="3849624"/>
            <a:ext cx="1234439" cy="23774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ISI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104120" y="3794760"/>
            <a:ext cx="132588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49840" y="3849624"/>
            <a:ext cx="1234439" cy="237744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补偿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5989320"/>
            <a:ext cx="10972800" cy="347472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9808" y="6071616"/>
            <a:ext cx="10652760" cy="16459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475569"/>
                </a:solidFill>
                <a:latin typeface="Microsoft YaHei"/>
              </a:rPr>
              <a:t>讲解提示：再次强调均衡在解调之前，译码在解调之后。如果均衡效果差，编码也无法弥补过多误码。实验中可对比有无均衡时的最终 BER 差异，加深理解。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6473952"/>
            <a:ext cx="11384280" cy="18288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6510528"/>
            <a:ext cx="548640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</a:rPr>
              <a:t>无线通信技术 · 信道编码与信道均衡实验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6510528"/>
            <a:ext cx="4023360" cy="2286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代码补全 · 仿真验证 · GitHub 自动评分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